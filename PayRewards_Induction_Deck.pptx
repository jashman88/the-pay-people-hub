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7"/>
    <p:restoredTop sz="94610"/>
  </p:normalViewPr>
  <p:slideViewPr>
    <p:cSldViewPr snapToGrid="0" snapToObjects="1">
      <p:cViewPr varScale="1">
        <p:scale>
          <a:sx n="155" d="100"/>
          <a:sy n="155" d="100"/>
        </p:scale>
        <p:origin x="42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9392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jpg"/><Relationship Id="rId7" Type="http://schemas.openxmlformats.org/officeDocument/2006/relationships/image" Target="../media/image11.png"/><Relationship Id="rId12" Type="http://schemas.openxmlformats.org/officeDocument/2006/relationships/image" Target="../media/image1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jpe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3B5FCC">
              <a:alpha val="18000"/>
            </a:srgbClr>
          </a:solidFill>
          <a:ln w="12700">
            <a:solidFill>
              <a:srgbClr val="3B5FCC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-731520"/>
            <a:ext cx="2926080" cy="2926080"/>
          </a:xfrm>
          <a:prstGeom prst="ellipse">
            <a:avLst/>
          </a:prstGeom>
          <a:solidFill>
            <a:srgbClr val="5B82FF">
              <a:alpha val="12000"/>
            </a:srgbClr>
          </a:solidFill>
          <a:ln w="12700">
            <a:solidFill>
              <a:srgbClr val="5B82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B82FF"/>
          </a:solidFill>
          <a:ln w="12700">
            <a:solidFill>
              <a:srgbClr val="5B8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47472" y="530352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5B8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TEAM MEMBER INDUCTION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" y="914400"/>
            <a:ext cx="44805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pay.com.au</a:t>
            </a:r>
            <a:endParaRPr lang="en-US" sz="6800" dirty="0"/>
          </a:p>
        </p:txBody>
      </p:sp>
      <p:sp>
        <p:nvSpPr>
          <p:cNvPr id="7" name="Shape 5"/>
          <p:cNvSpPr/>
          <p:nvPr/>
        </p:nvSpPr>
        <p:spPr>
          <a:xfrm>
            <a:off x="320040" y="2395728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3B5FCC"/>
          </a:solidFill>
          <a:ln w="12700">
            <a:solidFill>
              <a:srgbClr val="3B5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2395728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in the business of rewarding business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" y="4709160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Pack · 2026</a:t>
            </a:r>
            <a:endParaRPr lang="en-US" sz="1200" dirty="0"/>
          </a:p>
        </p:txBody>
      </p:sp>
      <p:pic>
        <p:nvPicPr>
          <p:cNvPr id="10" name="Image 0" descr="/sessions/nifty-modest-goodall/c_team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54880" y="0"/>
            <a:ext cx="4389120" cy="51435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389120" y="0"/>
            <a:ext cx="914400" cy="5143500"/>
          </a:xfrm>
          <a:prstGeom prst="rect">
            <a:avLst/>
          </a:prstGeom>
          <a:solidFill>
            <a:srgbClr val="0F1F5C"/>
          </a:solidFill>
          <a:ln w="12700">
            <a:solidFill>
              <a:srgbClr val="0F1F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49040" cy="5143500"/>
          </a:xfrm>
          <a:prstGeom prst="rect">
            <a:avLst/>
          </a:prstGeom>
          <a:solidFill>
            <a:srgbClr val="0F1F5C"/>
          </a:solidFill>
          <a:ln w="12700">
            <a:solidFill>
              <a:srgbClr val="0F1F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286000" y="-457200"/>
            <a:ext cx="3200400" cy="3200400"/>
          </a:xfrm>
          <a:prstGeom prst="ellipse">
            <a:avLst/>
          </a:prstGeom>
          <a:solidFill>
            <a:srgbClr val="3B5FCC">
              <a:alpha val="15000"/>
            </a:srgbClr>
          </a:solidFill>
          <a:ln w="12700">
            <a:solidFill>
              <a:srgbClr val="3B5FCC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731520" y="3200400"/>
            <a:ext cx="2560320" cy="2560320"/>
          </a:xfrm>
          <a:prstGeom prst="ellipse">
            <a:avLst/>
          </a:prstGeom>
          <a:solidFill>
            <a:srgbClr val="5B82FF">
              <a:alpha val="12000"/>
            </a:srgbClr>
          </a:solidFill>
          <a:ln w="12700">
            <a:solidFill>
              <a:srgbClr val="5B82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38404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5B8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STORY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" y="749808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pay.com.au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320040" y="1828800"/>
            <a:ext cx="502920" cy="45720"/>
          </a:xfrm>
          <a:prstGeom prst="rect">
            <a:avLst/>
          </a:prstGeom>
          <a:solidFill>
            <a:srgbClr val="5B82FF"/>
          </a:solidFill>
          <a:ln w="12700">
            <a:solidFill>
              <a:srgbClr val="5B8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2011680"/>
            <a:ext cx="3108960" cy="749808"/>
          </a:xfrm>
          <a:prstGeom prst="rect">
            <a:avLst/>
          </a:prstGeom>
          <a:solidFill>
            <a:srgbClr val="3B5FCC">
              <a:alpha val="22000"/>
            </a:srgbClr>
          </a:solidFill>
          <a:ln w="6350">
            <a:solidFill>
              <a:srgbClr val="5B8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10312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00200" y="2121408"/>
            <a:ext cx="1737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2907792"/>
            <a:ext cx="3108960" cy="749808"/>
          </a:xfrm>
          <a:prstGeom prst="rect">
            <a:avLst/>
          </a:prstGeom>
          <a:solidFill>
            <a:srgbClr val="3B5FCC">
              <a:alpha val="22000"/>
            </a:srgbClr>
          </a:solidFill>
          <a:ln w="6350">
            <a:solidFill>
              <a:srgbClr val="5B8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199" y="2999232"/>
            <a:ext cx="121508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600200" y="3017520"/>
            <a:ext cx="1737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 helped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3803904"/>
            <a:ext cx="3108960" cy="749808"/>
          </a:xfrm>
          <a:prstGeom prst="rect">
            <a:avLst/>
          </a:prstGeom>
          <a:solidFill>
            <a:srgbClr val="3B5FCC">
              <a:alpha val="22000"/>
            </a:srgbClr>
          </a:solidFill>
          <a:ln w="6350">
            <a:solidFill>
              <a:srgbClr val="5B8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3895344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$Bn+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600200" y="3913632"/>
            <a:ext cx="1737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processed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931920" y="365760"/>
            <a:ext cx="4937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Are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3931920" y="896112"/>
            <a:ext cx="548640" cy="54864"/>
          </a:xfrm>
          <a:prstGeom prst="rect">
            <a:avLst/>
          </a:prstGeom>
          <a:solidFill>
            <a:srgbClr val="3B5FCC"/>
          </a:solidFill>
          <a:ln w="12700">
            <a:solidFill>
              <a:srgbClr val="3B5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931920" y="1051560"/>
            <a:ext cx="4892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E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by Damien Waller, Edward Alder, and Grant Austin, </a:t>
            </a:r>
            <a:r>
              <a:rPr lang="en-US" sz="1250" b="1" dirty="0">
                <a:solidFill>
                  <a:srgbClr val="1E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pay.com.au</a:t>
            </a:r>
            <a:r>
              <a:rPr lang="en-US" sz="1250" dirty="0">
                <a:solidFill>
                  <a:srgbClr val="1E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was born from a simple vision: to help business owners turn everyday expenses into powerful rewards.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931920" y="1993392"/>
            <a:ext cx="48920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founders saw a major gap — while individuals earned points on personal spend, businesses were missing out. Payments to the ATO, landlords, or staff often went unrewarded due to card limits, clunky systems, or a lack of tools to maximise points.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931920" y="3035808"/>
            <a:ext cx="48920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Drawing on deep expertise in payments, rewards, and digital innovation, the team built an end-to-end platform designed for Australian businesses.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931920" y="3822192"/>
            <a:ext cx="4892040" cy="1078992"/>
          </a:xfrm>
          <a:prstGeom prst="rect">
            <a:avLst/>
          </a:prstGeom>
          <a:solidFill>
            <a:srgbClr val="EEF2FF"/>
          </a:solidFill>
          <a:ln w="9525">
            <a:solidFill>
              <a:srgbClr val="BBC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931920" y="3822192"/>
            <a:ext cx="73152" cy="1078992"/>
          </a:xfrm>
          <a:prstGeom prst="rect">
            <a:avLst/>
          </a:prstGeom>
          <a:solidFill>
            <a:srgbClr val="3B5FCC"/>
          </a:solidFill>
          <a:ln w="12700">
            <a:solidFill>
              <a:srgbClr val="3B5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114800" y="3895344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F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"Since we launched in 2020, we have helped thousands of businesses process billions in payments, unlocking incredible rewards along the way."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1F5C"/>
          </a:solidFill>
          <a:ln w="12700">
            <a:solidFill>
              <a:srgbClr val="0F1F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-731520"/>
            <a:ext cx="2926080" cy="2926080"/>
          </a:xfrm>
          <a:prstGeom prst="ellipse">
            <a:avLst/>
          </a:prstGeom>
          <a:solidFill>
            <a:srgbClr val="3B5FCC">
              <a:alpha val="12000"/>
            </a:srgbClr>
          </a:solidFill>
          <a:ln w="12700">
            <a:solidFill>
              <a:srgbClr val="3B5FCC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371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5B8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US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47548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· Vision · Purpose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265176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325880"/>
            <a:ext cx="2651760" cy="868680"/>
          </a:xfrm>
          <a:prstGeom prst="rect">
            <a:avLst/>
          </a:prstGeom>
          <a:solidFill>
            <a:srgbClr val="1A3A9F"/>
          </a:solidFill>
          <a:ln w="12700">
            <a:solidFill>
              <a:srgbClr val="1A3A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435608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0040" y="224028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F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Mission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1051560" y="2715768"/>
            <a:ext cx="1188720" cy="36576"/>
          </a:xfrm>
          <a:prstGeom prst="rect">
            <a:avLst/>
          </a:prstGeom>
          <a:solidFill>
            <a:srgbClr val="1A3A9F"/>
          </a:solidFill>
          <a:ln w="12700">
            <a:solidFill>
              <a:srgbClr val="1A3A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57200" y="2816352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on a mission to build innovative technology that empowers Australian business owners to make payments more rewarding.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200400" y="1325880"/>
            <a:ext cx="265176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200400" y="1325880"/>
            <a:ext cx="2651760" cy="868680"/>
          </a:xfrm>
          <a:prstGeom prst="rect">
            <a:avLst/>
          </a:prstGeom>
          <a:solidFill>
            <a:srgbClr val="3B5FCC"/>
          </a:solidFill>
          <a:ln w="12700">
            <a:solidFill>
              <a:srgbClr val="3B5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1435608"/>
            <a:ext cx="548640" cy="5486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200400" y="224028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F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Vision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3931920" y="2715768"/>
            <a:ext cx="1188720" cy="36576"/>
          </a:xfrm>
          <a:prstGeom prst="rect">
            <a:avLst/>
          </a:prstGeom>
          <a:solidFill>
            <a:srgbClr val="3B5FCC"/>
          </a:solidFill>
          <a:ln w="12700">
            <a:solidFill>
              <a:srgbClr val="3B5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3337560" y="2816352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become the leading B2B payments solution that transforms the way businesses process their payments.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080760" y="1325880"/>
            <a:ext cx="265176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6080760" y="1325880"/>
            <a:ext cx="2651760" cy="868680"/>
          </a:xfrm>
          <a:prstGeom prst="rect">
            <a:avLst/>
          </a:prstGeom>
          <a:solidFill>
            <a:srgbClr val="0A7C6E"/>
          </a:solidFill>
          <a:ln w="12700">
            <a:solidFill>
              <a:srgbClr val="0A7C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1435608"/>
            <a:ext cx="548640" cy="5486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080760" y="224028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F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Purpose</a:t>
            </a:r>
            <a:endParaRPr lang="en-US" sz="1450" dirty="0"/>
          </a:p>
        </p:txBody>
      </p:sp>
      <p:sp>
        <p:nvSpPr>
          <p:cNvPr id="22" name="Shape 17"/>
          <p:cNvSpPr/>
          <p:nvPr/>
        </p:nvSpPr>
        <p:spPr>
          <a:xfrm>
            <a:off x="6812280" y="2715768"/>
            <a:ext cx="1188720" cy="36576"/>
          </a:xfrm>
          <a:prstGeom prst="rect">
            <a:avLst/>
          </a:prstGeom>
          <a:solidFill>
            <a:srgbClr val="0A7C6E"/>
          </a:solidFill>
          <a:ln w="12700">
            <a:solidFill>
              <a:srgbClr val="0A7C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/>
          <p:nvPr/>
        </p:nvSpPr>
        <p:spPr>
          <a:xfrm>
            <a:off x="6217920" y="2816352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believe business owners of all shapes and sizes should be rewarded for their hard work.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F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3B5FCC">
              <a:alpha val="15000"/>
            </a:srgbClr>
          </a:solidFill>
          <a:ln w="12700">
            <a:solidFill>
              <a:srgbClr val="3B5FCC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5B82FF">
              <a:alpha val="10000"/>
            </a:srgbClr>
          </a:solidFill>
          <a:ln w="12700">
            <a:solidFill>
              <a:srgbClr val="5B82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25603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5B8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US SPECIAL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Unified Platform — 3 in 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1234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A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Simplifying business expenses whilst maximising reward points at every step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755648"/>
            <a:ext cx="2651760" cy="3154680"/>
          </a:xfrm>
          <a:prstGeom prst="rect">
            <a:avLst/>
          </a:prstGeom>
          <a:solidFill>
            <a:srgbClr val="FFFFFF">
              <a:alpha val="95000"/>
            </a:srgbClr>
          </a:solidFill>
          <a:ln w="9525">
            <a:solidFill>
              <a:srgbClr val="5B82F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1755648"/>
            <a:ext cx="2651760" cy="73152"/>
          </a:xfrm>
          <a:prstGeom prst="rect">
            <a:avLst/>
          </a:prstGeom>
          <a:solidFill>
            <a:srgbClr val="1A3A9F"/>
          </a:solidFill>
          <a:ln w="12700">
            <a:solidFill>
              <a:srgbClr val="1A3A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325880" y="1901952"/>
            <a:ext cx="658368" cy="658368"/>
          </a:xfrm>
          <a:prstGeom prst="ellipse">
            <a:avLst/>
          </a:prstGeom>
          <a:solidFill>
            <a:srgbClr val="1A3A9F"/>
          </a:solidFill>
          <a:ln w="12700">
            <a:solidFill>
              <a:srgbClr val="1A3A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325880" y="190195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20040" y="2633472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3127248"/>
            <a:ext cx="2377440" cy="1664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it's tax, wages or suppliers — businesses can turn every expense into reward points. Use credit cards where they're normally not accepted.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00400" y="1755648"/>
            <a:ext cx="2651760" cy="3154680"/>
          </a:xfrm>
          <a:prstGeom prst="rect">
            <a:avLst/>
          </a:prstGeom>
          <a:solidFill>
            <a:srgbClr val="FFFFFF">
              <a:alpha val="95000"/>
            </a:srgbClr>
          </a:solidFill>
          <a:ln w="9525">
            <a:solidFill>
              <a:srgbClr val="5B82F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00400" y="1755648"/>
            <a:ext cx="2651760" cy="73152"/>
          </a:xfrm>
          <a:prstGeom prst="rect">
            <a:avLst/>
          </a:prstGeom>
          <a:solidFill>
            <a:srgbClr val="3B5FCC"/>
          </a:solidFill>
          <a:ln w="12700">
            <a:solidFill>
              <a:srgbClr val="3B5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206240" y="1901952"/>
            <a:ext cx="658368" cy="658368"/>
          </a:xfrm>
          <a:prstGeom prst="ellipse">
            <a:avLst/>
          </a:prstGeom>
          <a:solidFill>
            <a:srgbClr val="3B5FCC"/>
          </a:solidFill>
          <a:ln w="12700">
            <a:solidFill>
              <a:srgbClr val="3B5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206240" y="190195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200400" y="2633472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PayRewards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337560" y="3127248"/>
            <a:ext cx="2377440" cy="1664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flexible rewards program that lets businesses earn even more points on all business expenses — ultimate flexibility, no lock-in.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080760" y="1755648"/>
            <a:ext cx="2651760" cy="3154680"/>
          </a:xfrm>
          <a:prstGeom prst="rect">
            <a:avLst/>
          </a:prstGeom>
          <a:solidFill>
            <a:srgbClr val="FFFFFF">
              <a:alpha val="95000"/>
            </a:srgbClr>
          </a:solidFill>
          <a:ln w="9525">
            <a:solidFill>
              <a:srgbClr val="5B82F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080760" y="1755648"/>
            <a:ext cx="2651760" cy="73152"/>
          </a:xfrm>
          <a:prstGeom prst="rect">
            <a:avLst/>
          </a:prstGeom>
          <a:solidFill>
            <a:srgbClr val="0A7C6E"/>
          </a:solidFill>
          <a:ln w="12700">
            <a:solidFill>
              <a:srgbClr val="0A7C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086600" y="1901952"/>
            <a:ext cx="658368" cy="658368"/>
          </a:xfrm>
          <a:prstGeom prst="ellipse">
            <a:avLst/>
          </a:prstGeom>
          <a:solidFill>
            <a:srgbClr val="0A7C6E"/>
          </a:solidFill>
          <a:ln w="12700">
            <a:solidFill>
              <a:srgbClr val="0A7C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086600" y="190195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080760" y="2633472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Redemption Services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217920" y="3127248"/>
            <a:ext cx="2377440" cy="1664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PayTravel, PayRewards Store, and PayConcierge connect customers to their rewards — from flights and hotels to everyday luxuries.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nifty-modest-goodall/c_team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86200" y="0"/>
            <a:ext cx="52578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886200" y="230660"/>
            <a:ext cx="5257800" cy="5143500"/>
          </a:xfrm>
          <a:prstGeom prst="rect">
            <a:avLst/>
          </a:prstGeom>
          <a:solidFill>
            <a:srgbClr val="0F1F5C">
              <a:alpha val="75000"/>
            </a:srgbClr>
          </a:solidFill>
          <a:ln w="12700">
            <a:solidFill>
              <a:srgbClr val="0F1F5C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3886200" y="4773168"/>
            <a:ext cx="5257800" cy="36576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3977640" y="4773168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pay.com.au Team — celebrating 5 years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365760" y="320040"/>
            <a:ext cx="621792" cy="621792"/>
          </a:xfrm>
          <a:prstGeom prst="ellipse">
            <a:avLst/>
          </a:prstGeom>
          <a:solidFill>
            <a:srgbClr val="3B5FCC"/>
          </a:solidFill>
          <a:ln w="12700">
            <a:solidFill>
              <a:srgbClr val="3B5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" y="384048"/>
            <a:ext cx="493776" cy="4937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47472" y="1051560"/>
            <a:ext cx="3383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Culture</a:t>
            </a:r>
            <a:endParaRPr lang="en-US" sz="2800" dirty="0"/>
          </a:p>
        </p:txBody>
      </p:sp>
      <p:sp>
        <p:nvSpPr>
          <p:cNvPr id="9" name="Shape 5"/>
          <p:cNvSpPr/>
          <p:nvPr/>
        </p:nvSpPr>
        <p:spPr>
          <a:xfrm>
            <a:off x="347472" y="1618488"/>
            <a:ext cx="548640" cy="54864"/>
          </a:xfrm>
          <a:prstGeom prst="rect">
            <a:avLst/>
          </a:prstGeom>
          <a:solidFill>
            <a:srgbClr val="3B5FCC"/>
          </a:solidFill>
          <a:ln w="12700">
            <a:solidFill>
              <a:srgbClr val="3B5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347472" y="1755648"/>
            <a:ext cx="3429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pay.com.au fosters a welcoming and inclusive workplace. Collaboration sits at the heart of how we operate — teams are encouraged to share ideas, explore new approaches, and work together to achieve great results.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347472" y="3145536"/>
            <a:ext cx="201168" cy="201168"/>
          </a:xfrm>
          <a:prstGeom prst="ellipse">
            <a:avLst/>
          </a:prstGeom>
          <a:solidFill>
            <a:srgbClr val="3B5FCC"/>
          </a:solidFill>
          <a:ln w="12700">
            <a:solidFill>
              <a:srgbClr val="3B5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658368" y="3108960"/>
            <a:ext cx="3090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Welcoming &amp; inclusive environment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347472" y="3621024"/>
            <a:ext cx="201168" cy="201168"/>
          </a:xfrm>
          <a:prstGeom prst="ellipse">
            <a:avLst/>
          </a:prstGeom>
          <a:solidFill>
            <a:srgbClr val="3B5FCC"/>
          </a:solidFill>
          <a:ln w="12700">
            <a:solidFill>
              <a:srgbClr val="3B5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658368" y="3584448"/>
            <a:ext cx="3090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Collaborative, idea-driven teams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347472" y="4096512"/>
            <a:ext cx="201168" cy="201168"/>
          </a:xfrm>
          <a:prstGeom prst="ellipse">
            <a:avLst/>
          </a:prstGeom>
          <a:solidFill>
            <a:srgbClr val="3B5FCC"/>
          </a:solidFill>
          <a:ln w="12700">
            <a:solidFill>
              <a:srgbClr val="3B5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658368" y="4059936"/>
            <a:ext cx="3090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internal relationships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347472" y="4572000"/>
            <a:ext cx="201168" cy="201168"/>
          </a:xfrm>
          <a:prstGeom prst="ellipse">
            <a:avLst/>
          </a:prstGeom>
          <a:solidFill>
            <a:srgbClr val="3B5FCC"/>
          </a:solidFill>
          <a:ln w="12700">
            <a:solidFill>
              <a:srgbClr val="3B5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658368" y="4535424"/>
            <a:ext cx="3090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Open, approachable leadership</a:t>
            </a:r>
            <a:endParaRPr lang="en-US" sz="1200" dirty="0"/>
          </a:p>
        </p:txBody>
      </p:sp>
      <p:pic>
        <p:nvPicPr>
          <p:cNvPr id="19" name="Picture 2">
            <a:extLst>
              <a:ext uri="{FF2B5EF4-FFF2-40B4-BE49-F238E27FC236}">
                <a16:creationId xmlns:a16="http://schemas.microsoft.com/office/drawing/2014/main" id="{987A2945-C2CE-A5F7-9582-3A98177BFA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7640" y="732138"/>
            <a:ext cx="5071048" cy="3803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F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nifty-modest-goodall/c_social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46320" y="0"/>
            <a:ext cx="429768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-914400" y="-914400"/>
            <a:ext cx="3200400" cy="3200400"/>
          </a:xfrm>
          <a:prstGeom prst="ellipse">
            <a:avLst/>
          </a:prstGeom>
          <a:solidFill>
            <a:srgbClr val="3B5FCC">
              <a:alpha val="12000"/>
            </a:srgbClr>
          </a:solidFill>
          <a:ln w="12700">
            <a:solidFill>
              <a:srgbClr val="3B5FCC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384048" y="320040"/>
            <a:ext cx="621792" cy="621792"/>
          </a:xfrm>
          <a:prstGeom prst="ellipse">
            <a:avLst/>
          </a:prstGeom>
          <a:solidFill>
            <a:srgbClr val="3B5FCC"/>
          </a:solidFill>
          <a:ln w="12700">
            <a:solidFill>
              <a:srgbClr val="3B5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" y="384048"/>
            <a:ext cx="493776" cy="4937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7472" y="1078992"/>
            <a:ext cx="4343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&amp; Celebrations</a:t>
            </a:r>
            <a:endParaRPr lang="en-US" sz="2600" dirty="0"/>
          </a:p>
        </p:txBody>
      </p:sp>
      <p:sp>
        <p:nvSpPr>
          <p:cNvPr id="8" name="Text 4"/>
          <p:cNvSpPr/>
          <p:nvPr/>
        </p:nvSpPr>
        <p:spPr>
          <a:xfrm>
            <a:off x="182712" y="1664208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calendar of events to look forward to: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182712" y="2084832"/>
            <a:ext cx="4297680" cy="402336"/>
          </a:xfrm>
          <a:prstGeom prst="rect">
            <a:avLst/>
          </a:prstGeom>
          <a:solidFill>
            <a:srgbClr val="FFFFFF">
              <a:alpha val="12000"/>
            </a:srgbClr>
          </a:solidFill>
          <a:ln w="5080">
            <a:solidFill>
              <a:srgbClr val="5B8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292440" y="2157984"/>
            <a:ext cx="256032" cy="256032"/>
          </a:xfrm>
          <a:prstGeom prst="ellipse">
            <a:avLst/>
          </a:prstGeom>
          <a:solidFill>
            <a:srgbClr val="5B82FF"/>
          </a:solidFill>
          <a:ln w="12700">
            <a:solidFill>
              <a:srgbClr val="5B8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9872" y="2185416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12480" y="2121408"/>
            <a:ext cx="1508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drinks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2166960" y="21214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Friday of each month — first drink on us!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182712" y="2560320"/>
            <a:ext cx="4297680" cy="402336"/>
          </a:xfrm>
          <a:prstGeom prst="rect">
            <a:avLst/>
          </a:prstGeom>
          <a:solidFill>
            <a:srgbClr val="FFFFFF">
              <a:alpha val="12000"/>
            </a:srgbClr>
          </a:solidFill>
          <a:ln w="5080">
            <a:solidFill>
              <a:srgbClr val="5B8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0"/>
          <p:cNvSpPr/>
          <p:nvPr/>
        </p:nvSpPr>
        <p:spPr>
          <a:xfrm>
            <a:off x="292440" y="2633472"/>
            <a:ext cx="256032" cy="256032"/>
          </a:xfrm>
          <a:prstGeom prst="ellipse">
            <a:avLst/>
          </a:prstGeom>
          <a:solidFill>
            <a:srgbClr val="5B82FF"/>
          </a:solidFill>
          <a:ln w="12700">
            <a:solidFill>
              <a:srgbClr val="5B8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9872" y="2660904"/>
            <a:ext cx="201168" cy="20116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12480" y="2596896"/>
            <a:ext cx="1508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 Socials</a:t>
            </a:r>
            <a:endParaRPr lang="en-US" sz="1050" dirty="0"/>
          </a:p>
        </p:txBody>
      </p:sp>
      <p:sp>
        <p:nvSpPr>
          <p:cNvPr id="18" name="Text 12"/>
          <p:cNvSpPr/>
          <p:nvPr/>
        </p:nvSpPr>
        <p:spPr>
          <a:xfrm>
            <a:off x="2166960" y="2596896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office on Friday? We head out locally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182712" y="3035808"/>
            <a:ext cx="4297680" cy="402336"/>
          </a:xfrm>
          <a:prstGeom prst="rect">
            <a:avLst/>
          </a:prstGeom>
          <a:solidFill>
            <a:srgbClr val="FFFFFF">
              <a:alpha val="12000"/>
            </a:srgbClr>
          </a:solidFill>
          <a:ln w="5080">
            <a:solidFill>
              <a:srgbClr val="5B8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4"/>
          <p:cNvSpPr/>
          <p:nvPr/>
        </p:nvSpPr>
        <p:spPr>
          <a:xfrm>
            <a:off x="292440" y="3108960"/>
            <a:ext cx="256032" cy="256032"/>
          </a:xfrm>
          <a:prstGeom prst="ellipse">
            <a:avLst/>
          </a:prstGeom>
          <a:solidFill>
            <a:srgbClr val="5B82FF"/>
          </a:solidFill>
          <a:ln w="12700">
            <a:solidFill>
              <a:srgbClr val="5B8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9872" y="3136392"/>
            <a:ext cx="201168" cy="20116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12480" y="3072384"/>
            <a:ext cx="1508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pay.com.au Birthday</a:t>
            </a:r>
            <a:endParaRPr lang="en-US" sz="1050" dirty="0"/>
          </a:p>
        </p:txBody>
      </p:sp>
      <p:sp>
        <p:nvSpPr>
          <p:cNvPr id="23" name="Text 16"/>
          <p:cNvSpPr/>
          <p:nvPr/>
        </p:nvSpPr>
        <p:spPr>
          <a:xfrm>
            <a:off x="2166960" y="3072384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celebration — 27 October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182712" y="3511296"/>
            <a:ext cx="4297680" cy="402336"/>
          </a:xfrm>
          <a:prstGeom prst="rect">
            <a:avLst/>
          </a:prstGeom>
          <a:solidFill>
            <a:srgbClr val="FFFFFF">
              <a:alpha val="12000"/>
            </a:srgbClr>
          </a:solidFill>
          <a:ln w="5080">
            <a:solidFill>
              <a:srgbClr val="5B8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18"/>
          <p:cNvSpPr/>
          <p:nvPr/>
        </p:nvSpPr>
        <p:spPr>
          <a:xfrm>
            <a:off x="292440" y="3584448"/>
            <a:ext cx="256032" cy="256032"/>
          </a:xfrm>
          <a:prstGeom prst="ellipse">
            <a:avLst/>
          </a:prstGeom>
          <a:solidFill>
            <a:srgbClr val="5B82FF"/>
          </a:solidFill>
          <a:ln w="12700">
            <a:solidFill>
              <a:srgbClr val="5B8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9872" y="3611880"/>
            <a:ext cx="201168" cy="20116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12480" y="3547872"/>
            <a:ext cx="1508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EOFY &amp; End of Year</a:t>
            </a:r>
            <a:endParaRPr lang="en-US" sz="1050" dirty="0"/>
          </a:p>
        </p:txBody>
      </p:sp>
      <p:sp>
        <p:nvSpPr>
          <p:cNvPr id="28" name="Text 20"/>
          <p:cNvSpPr/>
          <p:nvPr/>
        </p:nvSpPr>
        <p:spPr>
          <a:xfrm>
            <a:off x="2166960" y="3547872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team celebrations to mark milestones</a:t>
            </a:r>
            <a:endParaRPr lang="en-US" sz="1000" dirty="0"/>
          </a:p>
        </p:txBody>
      </p:sp>
      <p:sp>
        <p:nvSpPr>
          <p:cNvPr id="29" name="Shape 21"/>
          <p:cNvSpPr/>
          <p:nvPr/>
        </p:nvSpPr>
        <p:spPr>
          <a:xfrm>
            <a:off x="182712" y="3986784"/>
            <a:ext cx="4297680" cy="402336"/>
          </a:xfrm>
          <a:prstGeom prst="rect">
            <a:avLst/>
          </a:prstGeom>
          <a:solidFill>
            <a:srgbClr val="FFFFFF">
              <a:alpha val="12000"/>
            </a:srgbClr>
          </a:solidFill>
          <a:ln w="5080">
            <a:solidFill>
              <a:srgbClr val="5B8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2"/>
          <p:cNvSpPr/>
          <p:nvPr/>
        </p:nvSpPr>
        <p:spPr>
          <a:xfrm>
            <a:off x="292440" y="4059936"/>
            <a:ext cx="256032" cy="256032"/>
          </a:xfrm>
          <a:prstGeom prst="ellipse">
            <a:avLst/>
          </a:prstGeom>
          <a:solidFill>
            <a:srgbClr val="5B82FF"/>
          </a:solidFill>
          <a:ln w="12700">
            <a:solidFill>
              <a:srgbClr val="5B8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9872" y="4087368"/>
            <a:ext cx="201168" cy="201168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612480" y="4023360"/>
            <a:ext cx="1508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Town Hall</a:t>
            </a:r>
            <a:endParaRPr lang="en-US" sz="1050" dirty="0"/>
          </a:p>
        </p:txBody>
      </p:sp>
      <p:sp>
        <p:nvSpPr>
          <p:cNvPr id="33" name="Text 24"/>
          <p:cNvSpPr/>
          <p:nvPr/>
        </p:nvSpPr>
        <p:spPr>
          <a:xfrm>
            <a:off x="2166960" y="402336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— share wins &amp; company updates</a:t>
            </a:r>
            <a:endParaRPr lang="en-US" sz="1000" dirty="0"/>
          </a:p>
        </p:txBody>
      </p:sp>
      <p:sp>
        <p:nvSpPr>
          <p:cNvPr id="34" name="Shape 25"/>
          <p:cNvSpPr/>
          <p:nvPr/>
        </p:nvSpPr>
        <p:spPr>
          <a:xfrm>
            <a:off x="182712" y="4462272"/>
            <a:ext cx="4297680" cy="402336"/>
          </a:xfrm>
          <a:prstGeom prst="rect">
            <a:avLst/>
          </a:prstGeom>
          <a:solidFill>
            <a:srgbClr val="FFFFFF">
              <a:alpha val="12000"/>
            </a:srgbClr>
          </a:solidFill>
          <a:ln w="5080">
            <a:solidFill>
              <a:srgbClr val="5B8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26"/>
          <p:cNvSpPr/>
          <p:nvPr/>
        </p:nvSpPr>
        <p:spPr>
          <a:xfrm>
            <a:off x="292440" y="4535424"/>
            <a:ext cx="256032" cy="256032"/>
          </a:xfrm>
          <a:prstGeom prst="ellipse">
            <a:avLst/>
          </a:prstGeom>
          <a:solidFill>
            <a:srgbClr val="5B82FF"/>
          </a:solidFill>
          <a:ln w="12700">
            <a:solidFill>
              <a:srgbClr val="5B8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9872" y="4562856"/>
            <a:ext cx="201168" cy="201168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612480" y="4498848"/>
            <a:ext cx="1508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Tuesday Catered Lunch</a:t>
            </a:r>
            <a:endParaRPr lang="en-US" sz="1050" dirty="0"/>
          </a:p>
        </p:txBody>
      </p:sp>
      <p:sp>
        <p:nvSpPr>
          <p:cNvPr id="38" name="Text 28"/>
          <p:cNvSpPr/>
          <p:nvPr/>
        </p:nvSpPr>
        <p:spPr>
          <a:xfrm>
            <a:off x="2166960" y="449884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Tuesday in the office</a:t>
            </a:r>
            <a:endParaRPr lang="en-US" sz="1000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EAAC2686-1C8C-86DF-46C0-98F3F6B619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8023" y="1187998"/>
            <a:ext cx="2345977" cy="3127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B2C92633-FFD7-B0A9-9CD5-7AB6E79613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8509" y="1177180"/>
            <a:ext cx="2362203" cy="3149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5143500"/>
          </a:xfrm>
          <a:prstGeom prst="rect">
            <a:avLst/>
          </a:prstGeom>
          <a:solidFill>
            <a:srgbClr val="3B5FCC"/>
          </a:solidFill>
          <a:ln w="12700">
            <a:solidFill>
              <a:srgbClr val="3B5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828800" y="-914400"/>
            <a:ext cx="3657600" cy="3657600"/>
          </a:xfrm>
          <a:prstGeom prst="ellipse">
            <a:avLst/>
          </a:prstGeom>
          <a:solidFill>
            <a:srgbClr val="5B82FF">
              <a:alpha val="15000"/>
            </a:srgbClr>
          </a:solidFill>
          <a:ln w="12700">
            <a:solidFill>
              <a:srgbClr val="5B82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1371600" y="3657600"/>
            <a:ext cx="3200400" cy="3200400"/>
          </a:xfrm>
          <a:prstGeom prst="ellipse">
            <a:avLst/>
          </a:prstGeom>
          <a:solidFill>
            <a:srgbClr val="0F1F5C">
              <a:alpha val="30000"/>
            </a:srgbClr>
          </a:solidFill>
          <a:ln w="12700">
            <a:solidFill>
              <a:srgbClr val="0F1F5C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417320" y="566928"/>
            <a:ext cx="1097280" cy="1097280"/>
          </a:xfrm>
          <a:prstGeom prst="ellipse">
            <a:avLst/>
          </a:prstGeom>
          <a:solidFill>
            <a:srgbClr val="0F1F5C">
              <a:alpha val="70000"/>
            </a:srgbClr>
          </a:solidFill>
          <a:ln w="12700">
            <a:solidFill>
              <a:srgbClr val="0F1F5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704088"/>
            <a:ext cx="822960" cy="822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1627632"/>
            <a:ext cx="338328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Shoutout</a:t>
            </a:r>
            <a:endParaRPr lang="en-US" sz="3200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274320" y="272491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4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Slack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57200" y="3246120"/>
            <a:ext cx="3017520" cy="594360"/>
          </a:xfrm>
          <a:prstGeom prst="roundRect">
            <a:avLst>
              <a:gd name="adj" fmla="val 9231"/>
            </a:avLst>
          </a:prstGeom>
          <a:solidFill>
            <a:srgbClr val="4A154B"/>
          </a:solidFill>
          <a:ln w="12700">
            <a:solidFill>
              <a:srgbClr val="4A15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57200" y="32461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#shoutout</a:t>
            </a:r>
            <a:endParaRPr lang="en-US" sz="1600" dirty="0"/>
          </a:p>
        </p:txBody>
      </p:sp>
      <p:pic>
        <p:nvPicPr>
          <p:cNvPr id="11" name="Image 1" descr="/sessions/nifty-modest-goodall/c_collab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0" y="3950208"/>
            <a:ext cx="3931920" cy="11887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0" y="3950208"/>
            <a:ext cx="3931920" cy="1188720"/>
          </a:xfrm>
          <a:prstGeom prst="rect">
            <a:avLst/>
          </a:prstGeom>
          <a:solidFill>
            <a:srgbClr val="3B5FCC">
              <a:alpha val="45000"/>
            </a:srgbClr>
          </a:solidFill>
          <a:ln w="12700">
            <a:solidFill>
              <a:srgbClr val="3B5F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4206240" y="347472"/>
            <a:ext cx="621792" cy="621792"/>
          </a:xfrm>
          <a:prstGeom prst="ellipse">
            <a:avLst/>
          </a:prstGeom>
          <a:solidFill>
            <a:srgbClr val="3B5FCC"/>
          </a:solidFill>
          <a:ln w="12700">
            <a:solidFill>
              <a:srgbClr val="3B5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0248" y="411480"/>
            <a:ext cx="493776" cy="4937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206240" y="1097280"/>
            <a:ext cx="4663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Celebrating Each Other</a:t>
            </a:r>
            <a:endParaRPr lang="en-US" sz="2400" dirty="0"/>
          </a:p>
        </p:txBody>
      </p:sp>
      <p:sp>
        <p:nvSpPr>
          <p:cNvPr id="16" name="Shape 11"/>
          <p:cNvSpPr/>
          <p:nvPr/>
        </p:nvSpPr>
        <p:spPr>
          <a:xfrm>
            <a:off x="4206240" y="1682496"/>
            <a:ext cx="548640" cy="54864"/>
          </a:xfrm>
          <a:prstGeom prst="rect">
            <a:avLst/>
          </a:prstGeom>
          <a:solidFill>
            <a:srgbClr val="3B5FCC"/>
          </a:solidFill>
          <a:ln w="12700">
            <a:solidFill>
              <a:srgbClr val="3B5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/>
          <p:nvPr/>
        </p:nvSpPr>
        <p:spPr>
          <a:xfrm>
            <a:off x="4206240" y="1847088"/>
            <a:ext cx="46177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E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love recognising the amazing work our team is doing and celebrating each other's wins!</a:t>
            </a:r>
            <a:endParaRPr lang="en-US" sz="1250" dirty="0"/>
          </a:p>
          <a:p>
            <a:pPr marL="0" indent="0">
              <a:spcAft>
                <a:spcPts val="1000"/>
              </a:spcAft>
              <a:buNone/>
            </a:pPr>
            <a:endParaRPr lang="en-US" sz="12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E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you've seen a colleague go above and beyond, give them a shoutout in our dedicated Slack channel — it only takes a moment and means a lot.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4206240" y="3566160"/>
            <a:ext cx="4617720" cy="1325880"/>
          </a:xfrm>
          <a:prstGeom prst="rect">
            <a:avLst/>
          </a:prstGeom>
          <a:solidFill>
            <a:srgbClr val="EEF2FF"/>
          </a:solidFill>
          <a:ln w="9525">
            <a:solidFill>
              <a:srgbClr val="CCD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4206240" y="3566160"/>
            <a:ext cx="73152" cy="1325880"/>
          </a:xfrm>
          <a:prstGeom prst="rect">
            <a:avLst/>
          </a:prstGeom>
          <a:solidFill>
            <a:srgbClr val="3B5FCC"/>
          </a:solidFill>
          <a:ln w="12700">
            <a:solidFill>
              <a:srgbClr val="3B5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/>
          <p:nvPr/>
        </p:nvSpPr>
        <p:spPr>
          <a:xfrm>
            <a:off x="4389120" y="3675888"/>
            <a:ext cx="4297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get started: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4389120" y="4041648"/>
            <a:ext cx="4297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Join Slack at payau.slack.com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Find the #shoutout channel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Post a public thank-you to a teammate!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07008"/>
          </a:xfrm>
          <a:prstGeom prst="rect">
            <a:avLst/>
          </a:prstGeom>
          <a:solidFill>
            <a:srgbClr val="0F1F5C"/>
          </a:solidFill>
          <a:ln w="12700">
            <a:solidFill>
              <a:srgbClr val="0F1F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-731520"/>
            <a:ext cx="2926080" cy="2926080"/>
          </a:xfrm>
          <a:prstGeom prst="ellipse">
            <a:avLst/>
          </a:prstGeom>
          <a:solidFill>
            <a:srgbClr val="3B5FCC">
              <a:alpha val="12000"/>
            </a:srgbClr>
          </a:solidFill>
          <a:ln w="12700">
            <a:solidFill>
              <a:srgbClr val="3B5FCC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2801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5B8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DELIVER VALUE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47548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the future of payments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265176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389888"/>
            <a:ext cx="2651760" cy="822960"/>
          </a:xfrm>
          <a:prstGeom prst="rect">
            <a:avLst/>
          </a:prstGeom>
          <a:solidFill>
            <a:srgbClr val="1A3A9F"/>
          </a:solidFill>
          <a:ln w="12700">
            <a:solidFill>
              <a:srgbClr val="1A3A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490472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0040" y="2258568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 Points Guide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1143000" y="2715768"/>
            <a:ext cx="1005840" cy="36576"/>
          </a:xfrm>
          <a:prstGeom prst="rect">
            <a:avLst/>
          </a:prstGeom>
          <a:solidFill>
            <a:srgbClr val="1A3A9F"/>
          </a:solidFill>
          <a:ln w="12700">
            <a:solidFill>
              <a:srgbClr val="1A3A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57200" y="2816352"/>
            <a:ext cx="2377440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guide covering points value, earning strategies and maximising your rewards journey.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11480" y="4480560"/>
            <a:ext cx="2468880" cy="347472"/>
          </a:xfrm>
          <a:prstGeom prst="rect">
            <a:avLst/>
          </a:prstGeom>
          <a:solidFill>
            <a:srgbClr val="1A3A9F"/>
          </a:solidFill>
          <a:ln w="12700">
            <a:solidFill>
              <a:srgbClr val="1A3A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11480" y="44805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Playlist — Beginner Points Series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200400" y="1389888"/>
            <a:ext cx="265176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3200400" y="1389888"/>
            <a:ext cx="2651760" cy="822960"/>
          </a:xfrm>
          <a:prstGeom prst="rect">
            <a:avLst/>
          </a:prstGeom>
          <a:solidFill>
            <a:srgbClr val="3B5FCC"/>
          </a:solidFill>
          <a:ln w="12700">
            <a:solidFill>
              <a:srgbClr val="3B5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1490472"/>
            <a:ext cx="548640" cy="5486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200400" y="2258568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Partners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4023360" y="2715768"/>
            <a:ext cx="1005840" cy="36576"/>
          </a:xfrm>
          <a:prstGeom prst="rect">
            <a:avLst/>
          </a:prstGeom>
          <a:solidFill>
            <a:srgbClr val="3B5FCC"/>
          </a:solidFill>
          <a:ln w="12700">
            <a:solidFill>
              <a:srgbClr val="3B5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3337560" y="2816352"/>
            <a:ext cx="2377440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partner with world-leading airline and hotel brands to give customers the ultimate flexibility when redeeming.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3291840" y="4480560"/>
            <a:ext cx="2468880" cy="347472"/>
          </a:xfrm>
          <a:prstGeom prst="rect">
            <a:avLst/>
          </a:prstGeom>
          <a:solidFill>
            <a:srgbClr val="3B5FCC"/>
          </a:solidFill>
          <a:ln w="12700">
            <a:solidFill>
              <a:srgbClr val="3B5F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3291840" y="44805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pay.com.au</a:t>
            </a: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/partners/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6080760" y="1389888"/>
            <a:ext cx="265176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6080760" y="1389888"/>
            <a:ext cx="2651760" cy="822960"/>
          </a:xfrm>
          <a:prstGeom prst="rect">
            <a:avLst/>
          </a:prstGeom>
          <a:solidFill>
            <a:srgbClr val="0A7C6E"/>
          </a:solidFill>
          <a:ln w="12700">
            <a:solidFill>
              <a:srgbClr val="0A7C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1490472"/>
            <a:ext cx="548640" cy="54864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080760" y="2258568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Calculator</a:t>
            </a:r>
            <a:endParaRPr lang="en-US" sz="1350" dirty="0"/>
          </a:p>
        </p:txBody>
      </p:sp>
      <p:sp>
        <p:nvSpPr>
          <p:cNvPr id="26" name="Shape 21"/>
          <p:cNvSpPr/>
          <p:nvPr/>
        </p:nvSpPr>
        <p:spPr>
          <a:xfrm>
            <a:off x="6903720" y="2715768"/>
            <a:ext cx="1005840" cy="36576"/>
          </a:xfrm>
          <a:prstGeom prst="rect">
            <a:avLst/>
          </a:prstGeom>
          <a:solidFill>
            <a:srgbClr val="0A7C6E"/>
          </a:solidFill>
          <a:ln w="12700">
            <a:solidFill>
              <a:srgbClr val="0A7C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2"/>
          <p:cNvSpPr/>
          <p:nvPr/>
        </p:nvSpPr>
        <p:spPr>
          <a:xfrm>
            <a:off x="6217920" y="2816352"/>
            <a:ext cx="2377440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excellent tool to demonstrate the potential value customers can unlock through our platform.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6172200" y="4480560"/>
            <a:ext cx="2468880" cy="347472"/>
          </a:xfrm>
          <a:prstGeom prst="rect">
            <a:avLst/>
          </a:prstGeom>
          <a:solidFill>
            <a:srgbClr val="0A7C6E"/>
          </a:solidFill>
          <a:ln w="12700">
            <a:solidFill>
              <a:srgbClr val="0A7C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4"/>
          <p:cNvSpPr/>
          <p:nvPr/>
        </p:nvSpPr>
        <p:spPr>
          <a:xfrm>
            <a:off x="6172200" y="44805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pay.com.au/calculator/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F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nifty-modest-goodall/c_team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F5C">
              <a:alpha val="70000"/>
            </a:srgbClr>
          </a:solidFill>
          <a:ln w="12700">
            <a:solidFill>
              <a:srgbClr val="0F1F5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5B82FF"/>
          </a:solidFill>
          <a:ln w="12700">
            <a:solidFill>
              <a:srgbClr val="5B8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5B8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ALL SET!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100584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to the team!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1097280" y="2029968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4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these tools and insights, you are well-equipped to make the most of your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F4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payment rewards journey — and to help our customers do the same.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22960" y="2999232"/>
            <a:ext cx="3566160" cy="530352"/>
          </a:xfrm>
          <a:prstGeom prst="rect">
            <a:avLst/>
          </a:prstGeom>
          <a:solidFill>
            <a:srgbClr val="3B5FCC">
              <a:alpha val="78000"/>
            </a:srgbClr>
          </a:solidFill>
          <a:ln w="6350">
            <a:solidFill>
              <a:srgbClr val="5B8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32688" y="2999232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Understand the value of rewards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22960" y="3657600"/>
            <a:ext cx="3566160" cy="530352"/>
          </a:xfrm>
          <a:prstGeom prst="rect">
            <a:avLst/>
          </a:prstGeom>
          <a:solidFill>
            <a:srgbClr val="3B5FCC">
              <a:alpha val="78000"/>
            </a:srgbClr>
          </a:solidFill>
          <a:ln w="6350">
            <a:solidFill>
              <a:srgbClr val="5B8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932688" y="3657600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Utilise the Beginner Points Guide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709160" y="2999232"/>
            <a:ext cx="3566160" cy="530352"/>
          </a:xfrm>
          <a:prstGeom prst="rect">
            <a:avLst/>
          </a:prstGeom>
          <a:solidFill>
            <a:srgbClr val="3B5FCC">
              <a:alpha val="78000"/>
            </a:srgbClr>
          </a:solidFill>
          <a:ln w="6350">
            <a:solidFill>
              <a:srgbClr val="5B8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818888" y="2999232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Explore transfer partners for flexibility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709160" y="3657600"/>
            <a:ext cx="3566160" cy="530352"/>
          </a:xfrm>
          <a:prstGeom prst="rect">
            <a:avLst/>
          </a:prstGeom>
          <a:solidFill>
            <a:srgbClr val="3B5FCC">
              <a:alpha val="78000"/>
            </a:srgbClr>
          </a:solidFill>
          <a:ln w="6350">
            <a:solidFill>
              <a:srgbClr val="5B8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818888" y="3657600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Leverage the Rewards Calculator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pay.com.au  ·  induction.pack@pay.com.au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744</Words>
  <Application>Microsoft Macintosh PowerPoint</Application>
  <PresentationFormat>On-screen Show (16:9)</PresentationFormat>
  <Paragraphs>100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pay.com.au — Induction Welcome Pack</dc:title>
  <dc:subject>PptxGenJS Presentation</dc:subject>
  <dc:creator>PptxGenJS</dc:creator>
  <cp:lastModifiedBy>Justin Ashman</cp:lastModifiedBy>
  <cp:revision>2</cp:revision>
  <dcterms:created xsi:type="dcterms:W3CDTF">2026-04-09T08:08:54Z</dcterms:created>
  <dcterms:modified xsi:type="dcterms:W3CDTF">2026-04-09T08:43:18Z</dcterms:modified>
</cp:coreProperties>
</file>